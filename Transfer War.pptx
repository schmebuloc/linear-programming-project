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651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1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10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10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1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10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1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10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1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10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3" Type="http://schemas.openxmlformats.org/officeDocument/2006/relationships/image" Target="../media/image110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21.png"/><Relationship Id="rId4" Type="http://schemas.openxmlformats.org/officeDocument/2006/relationships/image" Target="../media/image10.png"/><Relationship Id="rId9" Type="http://schemas.openxmlformats.org/officeDocument/2006/relationships/image" Target="../media/image1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0.png"/><Relationship Id="rId9" Type="http://schemas.openxmlformats.org/officeDocument/2006/relationships/image" Target="../media/image1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0.png"/><Relationship Id="rId9" Type="http://schemas.openxmlformats.org/officeDocument/2006/relationships/image" Target="../media/image1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4" Type="http://schemas.openxmlformats.org/officeDocument/2006/relationships/image" Target="../media/image10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763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294" y="3476625"/>
            <a:ext cx="1143000" cy="1143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641" y="3476625"/>
            <a:ext cx="114300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946" y="3857625"/>
            <a:ext cx="1619696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008" y="3857625"/>
            <a:ext cx="1842046" cy="3429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493639" y="2276475"/>
            <a:ext cx="920472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War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573167" y="2962275"/>
            <a:ext cx="11045666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Integer Linear Programming (MILP) with Buy/Sell Decisions + Competitive Denial (γ)</a:t>
            </a:r>
            <a:endParaRPr lang="en-US" sz="1800" dirty="0"/>
          </a:p>
        </p:txBody>
      </p:sp>
      <p:sp>
        <p:nvSpPr>
          <p:cNvPr id="12" name="Text 2"/>
          <p:cNvSpPr/>
          <p:nvPr/>
        </p:nvSpPr>
        <p:spPr>
          <a:xfrm>
            <a:off x="2168976" y="3857625"/>
            <a:ext cx="194363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Madrid</a:t>
            </a:r>
            <a:endParaRPr lang="en-US" sz="2250" dirty="0"/>
          </a:p>
        </p:txBody>
      </p:sp>
      <p:sp>
        <p:nvSpPr>
          <p:cNvPr id="15" name="Text 5"/>
          <p:cNvSpPr/>
          <p:nvPr/>
        </p:nvSpPr>
        <p:spPr>
          <a:xfrm>
            <a:off x="4458206" y="4276725"/>
            <a:ext cx="30532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Window Optimization</a:t>
            </a:r>
            <a:b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/>
              <a:t>Students: Giannis Chrysomallis, Christos Asimakopoulos</a:t>
            </a:r>
          </a:p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7834804" y="3857625"/>
            <a:ext cx="221045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Barcelona</a:t>
            </a:r>
            <a:endParaRPr lang="en-US" sz="2250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B3A8FF3D-5450-E96D-70F5-807DC2C337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2275" y="2790825"/>
            <a:ext cx="6858000" cy="38100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FBC8BC7C-19BD-6385-30B6-3DAAB75B56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5225" y="2105025"/>
            <a:ext cx="12192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105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800" y="3019425"/>
            <a:ext cx="28575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4299" y="461010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181100"/>
            <a:ext cx="5562600" cy="3429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1811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638300"/>
            <a:ext cx="5410200" cy="1571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9016" y="3301893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5745" y="3301893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9622" y="4781550"/>
            <a:ext cx="1714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9622" y="5162550"/>
            <a:ext cx="2628900" cy="723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2100" y="3819525"/>
            <a:ext cx="2628900" cy="7239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381000" y="1181100"/>
            <a:ext cx="54102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rival football clubs make optimal buy/sell decisions under budget constraints with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without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competitive denial factor γ.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2816850" y="3038475"/>
            <a:ext cx="7834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-48652" y="3400425"/>
            <a:ext cx="6080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Madrid  vs FC Barcelona 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2514349" y="4629150"/>
            <a:ext cx="13464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351457" y="5067670"/>
            <a:ext cx="469554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ctr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limitations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351457" y="533437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ctr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structure requirements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350444" y="5601070"/>
            <a:ext cx="55115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ctr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window limitations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6743700" y="1200150"/>
            <a:ext cx="23497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Hostility:</a:t>
            </a:r>
            <a:endParaRPr lang="en-US" sz="1500" dirty="0"/>
          </a:p>
        </p:txBody>
      </p:sp>
      <p:sp>
        <p:nvSpPr>
          <p:cNvPr id="24" name="Text 9"/>
          <p:cNvSpPr/>
          <p:nvPr/>
        </p:nvSpPr>
        <p:spPr>
          <a:xfrm>
            <a:off x="6553200" y="1790700"/>
            <a:ext cx="5105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Factor (γ)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Enhances value of transfers that deprive opponents of critical players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6434495" y="3035193"/>
            <a:ext cx="11662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31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Madrid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8669745" y="3059006"/>
            <a:ext cx="6957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8600168" y="3325706"/>
            <a:ext cx="8349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0.85</a:t>
            </a:r>
            <a:endParaRPr lang="en-US" sz="1350" dirty="0"/>
          </a:p>
        </p:txBody>
      </p:sp>
      <p:sp>
        <p:nvSpPr>
          <p:cNvPr id="28" name="Text 13"/>
          <p:cNvSpPr/>
          <p:nvPr/>
        </p:nvSpPr>
        <p:spPr>
          <a:xfrm>
            <a:off x="10421199" y="3035193"/>
            <a:ext cx="13264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9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Barcelona</a:t>
            </a:r>
            <a:endParaRPr lang="en-US" sz="1350" dirty="0"/>
          </a:p>
        </p:txBody>
      </p:sp>
      <p:sp>
        <p:nvSpPr>
          <p:cNvPr id="29" name="Text 14"/>
          <p:cNvSpPr/>
          <p:nvPr/>
        </p:nvSpPr>
        <p:spPr>
          <a:xfrm>
            <a:off x="6925372" y="4800600"/>
            <a:ext cx="24136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Dimensions: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6753922" y="527685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 (γ=0)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6753922" y="554355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team improvement</a:t>
            </a:r>
            <a:endParaRPr lang="en-US" sz="1200" dirty="0"/>
          </a:p>
        </p:txBody>
      </p:sp>
      <p:sp>
        <p:nvSpPr>
          <p:cNvPr id="32" name="Text 17"/>
          <p:cNvSpPr/>
          <p:nvPr/>
        </p:nvSpPr>
        <p:spPr>
          <a:xfrm>
            <a:off x="9535222" y="527685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(γ&gt;0)</a:t>
            </a:r>
            <a:endParaRPr lang="en-US" sz="1350" dirty="0"/>
          </a:p>
        </p:txBody>
      </p:sp>
      <p:sp>
        <p:nvSpPr>
          <p:cNvPr id="33" name="Text 18"/>
          <p:cNvSpPr/>
          <p:nvPr/>
        </p:nvSpPr>
        <p:spPr>
          <a:xfrm>
            <a:off x="9535222" y="554355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denial + team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" y="30333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200025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447800"/>
            <a:ext cx="52197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619250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905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492624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048000"/>
            <a:ext cx="52197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0668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1447800"/>
            <a:ext cx="2533650" cy="16859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29538" y="15621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7350" y="1447800"/>
            <a:ext cx="2533650" cy="16859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96089" y="1571209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3286125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3667125"/>
            <a:ext cx="521970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05600" y="397192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60489" y="5407149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74284" y="5407149"/>
            <a:ext cx="22860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Analysis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95325" y="1066800"/>
            <a:ext cx="195167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Dataset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1104900" y="1562100"/>
            <a:ext cx="14996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18,405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players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066800" y="1866900"/>
            <a:ext cx="4762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 name, club, position, estimated price, performance score (0-10)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723900" y="3492624"/>
            <a:ext cx="277534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Preselection Process</a:t>
            </a:r>
            <a:endParaRPr lang="en-US" sz="1800" dirty="0"/>
          </a:p>
        </p:txBody>
      </p:sp>
      <p:sp>
        <p:nvSpPr>
          <p:cNvPr id="25" name="Text 5"/>
          <p:cNvSpPr/>
          <p:nvPr/>
        </p:nvSpPr>
        <p:spPr>
          <a:xfrm>
            <a:off x="838200" y="3987924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 candidates per role based on score-to-cost ratio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838200" y="4254624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out current squad players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838200" y="4521324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club-blocking to prevent buying players from rivals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648450" y="1066800"/>
            <a:ext cx="2423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Information</a:t>
            </a:r>
            <a:endParaRPr lang="en-US" sz="1800" dirty="0"/>
          </a:p>
        </p:txBody>
      </p:sp>
      <p:sp>
        <p:nvSpPr>
          <p:cNvPr id="29" name="Text 9"/>
          <p:cNvSpPr/>
          <p:nvPr/>
        </p:nvSpPr>
        <p:spPr>
          <a:xfrm>
            <a:off x="6475095" y="1914525"/>
            <a:ext cx="2766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31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Madrid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7729538" y="2270326"/>
            <a:ext cx="2766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roles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7729538" y="2537026"/>
            <a:ext cx="2766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ages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7729538" y="2803726"/>
            <a:ext cx="2766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sell values</a:t>
            </a:r>
            <a:endParaRPr lang="en-US" sz="1350" dirty="0"/>
          </a:p>
        </p:txBody>
      </p:sp>
      <p:sp>
        <p:nvSpPr>
          <p:cNvPr id="33" name="Text 13"/>
          <p:cNvSpPr/>
          <p:nvPr/>
        </p:nvSpPr>
        <p:spPr>
          <a:xfrm>
            <a:off x="7841646" y="1923634"/>
            <a:ext cx="2766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9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Barcelona</a:t>
            </a:r>
            <a:endParaRPr lang="en-US" sz="1500" dirty="0"/>
          </a:p>
        </p:txBody>
      </p:sp>
      <p:sp>
        <p:nvSpPr>
          <p:cNvPr id="37" name="Text 17"/>
          <p:cNvSpPr/>
          <p:nvPr/>
        </p:nvSpPr>
        <p:spPr>
          <a:xfrm>
            <a:off x="6591300" y="3286125"/>
            <a:ext cx="216437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Modeling</a:t>
            </a:r>
            <a:endParaRPr lang="en-US" sz="1800" dirty="0"/>
          </a:p>
        </p:txBody>
      </p:sp>
      <p:sp>
        <p:nvSpPr>
          <p:cNvPr id="38" name="Text 18"/>
          <p:cNvSpPr/>
          <p:nvPr/>
        </p:nvSpPr>
        <p:spPr>
          <a:xfrm>
            <a:off x="6934200" y="3781425"/>
            <a:ext cx="4762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Friction: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Player availability modeled probabilistically (p=0.85), same across scenarios</a:t>
            </a:r>
            <a:endParaRPr lang="en-US" sz="1500" dirty="0"/>
          </a:p>
        </p:txBody>
      </p:sp>
      <p:sp>
        <p:nvSpPr>
          <p:cNvPr id="39" name="Text 19"/>
          <p:cNvSpPr/>
          <p:nvPr/>
        </p:nvSpPr>
        <p:spPr>
          <a:xfrm>
            <a:off x="3265289" y="5407149"/>
            <a:ext cx="26041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Madrid Budget: </a:t>
            </a:r>
            <a:r>
              <a:rPr lang="en-US" sz="1800" b="1" dirty="0">
                <a:solidFill>
                  <a:srgbClr val="631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€500M</a:t>
            </a:r>
            <a:endParaRPr lang="en-US" sz="1500" dirty="0"/>
          </a:p>
        </p:txBody>
      </p:sp>
      <p:sp>
        <p:nvSpPr>
          <p:cNvPr id="40" name="Text 20"/>
          <p:cNvSpPr/>
          <p:nvPr/>
        </p:nvSpPr>
        <p:spPr>
          <a:xfrm>
            <a:off x="6479084" y="5407149"/>
            <a:ext cx="27524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Barcelona Budget: </a:t>
            </a:r>
            <a:r>
              <a:rPr lang="en-US" sz="1800" b="1" dirty="0">
                <a:solidFill>
                  <a:srgbClr val="99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€400M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11582400" cy="121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648" y="1066800"/>
            <a:ext cx="25717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798" y="1409700"/>
            <a:ext cx="1521321" cy="647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8396" y="144780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2419" y="1657350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0069" y="1409700"/>
            <a:ext cx="1648420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9029" y="14478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2789" y="165735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0439" y="1409700"/>
            <a:ext cx="1378744" cy="647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4561" y="14478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483" y="1657350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1133" y="1409700"/>
            <a:ext cx="1603921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03481" y="1447800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2324100"/>
            <a:ext cx="5715000" cy="1485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24384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28575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31623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34671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2324100"/>
            <a:ext cx="5715000" cy="1485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0" y="2438400"/>
            <a:ext cx="28575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28575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31623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34671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3962400"/>
            <a:ext cx="11582400" cy="1638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9100" y="4076700"/>
            <a:ext cx="17145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0" y="4667250"/>
            <a:ext cx="5676900" cy="5715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Overview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5369123" y="1066800"/>
            <a:ext cx="219027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MILP Framework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2461826" y="1752600"/>
            <a:ext cx="155126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Rival Teams</a:t>
            </a:r>
            <a:endParaRPr lang="en-US" sz="1350" dirty="0"/>
          </a:p>
        </p:txBody>
      </p:sp>
      <p:sp>
        <p:nvSpPr>
          <p:cNvPr id="33" name="Text 3"/>
          <p:cNvSpPr/>
          <p:nvPr/>
        </p:nvSpPr>
        <p:spPr>
          <a:xfrm>
            <a:off x="4332387" y="1752600"/>
            <a:ext cx="17037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Buy/Sell Decisions</a:t>
            </a:r>
            <a:endParaRPr lang="en-US" sz="1350" dirty="0"/>
          </a:p>
        </p:txBody>
      </p:sp>
      <p:sp>
        <p:nvSpPr>
          <p:cNvPr id="34" name="Text 4"/>
          <p:cNvSpPr/>
          <p:nvPr/>
        </p:nvSpPr>
        <p:spPr>
          <a:xfrm>
            <a:off x="6369725" y="1752600"/>
            <a:ext cx="13801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350" dirty="0"/>
          </a:p>
        </p:txBody>
      </p:sp>
      <p:sp>
        <p:nvSpPr>
          <p:cNvPr id="35" name="Text 5"/>
          <p:cNvSpPr/>
          <p:nvPr/>
        </p:nvSpPr>
        <p:spPr>
          <a:xfrm>
            <a:off x="8087901" y="1752600"/>
            <a:ext cx="16503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Outcome</a:t>
            </a:r>
            <a:endParaRPr lang="en-US" sz="1350" dirty="0"/>
          </a:p>
        </p:txBody>
      </p:sp>
      <p:sp>
        <p:nvSpPr>
          <p:cNvPr id="36" name="Text 6"/>
          <p:cNvSpPr/>
          <p:nvPr/>
        </p:nvSpPr>
        <p:spPr>
          <a:xfrm>
            <a:off x="762000" y="2438400"/>
            <a:ext cx="275248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 Scenario (γ=0)</a:t>
            </a:r>
            <a:endParaRPr lang="en-US" sz="1800" dirty="0"/>
          </a:p>
        </p:txBody>
      </p:sp>
      <p:sp>
        <p:nvSpPr>
          <p:cNvPr id="37" name="Text 7"/>
          <p:cNvSpPr/>
          <p:nvPr/>
        </p:nvSpPr>
        <p:spPr>
          <a:xfrm>
            <a:off x="1028700" y="2819400"/>
            <a:ext cx="40535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driven by internal team needs</a:t>
            </a:r>
            <a:endParaRPr lang="en-US" sz="1500" dirty="0"/>
          </a:p>
        </p:txBody>
      </p:sp>
      <p:sp>
        <p:nvSpPr>
          <p:cNvPr id="38" name="Text 8"/>
          <p:cNvSpPr/>
          <p:nvPr/>
        </p:nvSpPr>
        <p:spPr>
          <a:xfrm>
            <a:off x="1028700" y="3124200"/>
            <a:ext cx="35959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pure athletic performance</a:t>
            </a:r>
            <a:endParaRPr lang="en-US" sz="1500" dirty="0"/>
          </a:p>
        </p:txBody>
      </p:sp>
      <p:sp>
        <p:nvSpPr>
          <p:cNvPr id="39" name="Text 9"/>
          <p:cNvSpPr/>
          <p:nvPr/>
        </p:nvSpPr>
        <p:spPr>
          <a:xfrm>
            <a:off x="1028700" y="3429000"/>
            <a:ext cx="399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strategic consideration for opponent</a:t>
            </a:r>
            <a:endParaRPr lang="en-US" sz="1500" dirty="0"/>
          </a:p>
        </p:txBody>
      </p:sp>
      <p:sp>
        <p:nvSpPr>
          <p:cNvPr id="40" name="Text 10"/>
          <p:cNvSpPr/>
          <p:nvPr/>
        </p:nvSpPr>
        <p:spPr>
          <a:xfrm>
            <a:off x="6686550" y="2438400"/>
            <a:ext cx="246727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Scenario (γ&gt;0)</a:t>
            </a:r>
            <a:endParaRPr lang="en-US" sz="1800" dirty="0"/>
          </a:p>
        </p:txBody>
      </p:sp>
      <p:sp>
        <p:nvSpPr>
          <p:cNvPr id="41" name="Text 11"/>
          <p:cNvSpPr/>
          <p:nvPr/>
        </p:nvSpPr>
        <p:spPr>
          <a:xfrm>
            <a:off x="6896100" y="2819400"/>
            <a:ext cx="42437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incorporate competitive hostility</a:t>
            </a:r>
            <a:endParaRPr lang="en-US" sz="1500" dirty="0"/>
          </a:p>
        </p:txBody>
      </p:sp>
      <p:sp>
        <p:nvSpPr>
          <p:cNvPr id="42" name="Text 12"/>
          <p:cNvSpPr/>
          <p:nvPr/>
        </p:nvSpPr>
        <p:spPr>
          <a:xfrm>
            <a:off x="6896100" y="3124200"/>
            <a:ext cx="41298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denial becomes strategic objective</a:t>
            </a:r>
            <a:endParaRPr lang="en-US" sz="1500" dirty="0"/>
          </a:p>
        </p:txBody>
      </p:sp>
      <p:sp>
        <p:nvSpPr>
          <p:cNvPr id="43" name="Text 13"/>
          <p:cNvSpPr/>
          <p:nvPr/>
        </p:nvSpPr>
        <p:spPr>
          <a:xfrm>
            <a:off x="6896100" y="3429000"/>
            <a:ext cx="50358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choices shift toward denial-relevant roles</a:t>
            </a:r>
            <a:endParaRPr lang="en-US" sz="1500" dirty="0"/>
          </a:p>
        </p:txBody>
      </p:sp>
      <p:sp>
        <p:nvSpPr>
          <p:cNvPr id="44" name="Text 14"/>
          <p:cNvSpPr/>
          <p:nvPr/>
        </p:nvSpPr>
        <p:spPr>
          <a:xfrm>
            <a:off x="704850" y="4076700"/>
            <a:ext cx="282053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Denial Strategy</a:t>
            </a:r>
            <a:endParaRPr lang="en-US" sz="1800" dirty="0"/>
          </a:p>
        </p:txBody>
      </p:sp>
      <p:sp>
        <p:nvSpPr>
          <p:cNvPr id="45" name="Text 15"/>
          <p:cNvSpPr/>
          <p:nvPr/>
        </p:nvSpPr>
        <p:spPr>
          <a:xfrm>
            <a:off x="419100" y="4419600"/>
            <a:ext cx="5524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denial factor (γ) enhances transfer value if it deprives an opponent of a critical player.</a:t>
            </a:r>
            <a:endParaRPr lang="en-US" sz="1500" dirty="0"/>
          </a:p>
        </p:txBody>
      </p:sp>
      <p:sp>
        <p:nvSpPr>
          <p:cNvPr id="46" name="Text 16"/>
          <p:cNvSpPr/>
          <p:nvPr/>
        </p:nvSpPr>
        <p:spPr>
          <a:xfrm>
            <a:off x="419100" y="4953000"/>
            <a:ext cx="5524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incorporates competitive hostility into the optimization model.</a:t>
            </a:r>
            <a:endParaRPr lang="en-US" sz="1500" dirty="0"/>
          </a:p>
        </p:txBody>
      </p:sp>
      <p:sp>
        <p:nvSpPr>
          <p:cNvPr id="47" name="Text 17"/>
          <p:cNvSpPr/>
          <p:nvPr/>
        </p:nvSpPr>
        <p:spPr>
          <a:xfrm>
            <a:off x="6248400" y="4667250"/>
            <a:ext cx="17152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Value:</a:t>
            </a:r>
            <a:endParaRPr lang="en-US" sz="1500" dirty="0"/>
          </a:p>
        </p:txBody>
      </p:sp>
      <p:sp>
        <p:nvSpPr>
          <p:cNvPr id="48" name="Text 18"/>
          <p:cNvSpPr/>
          <p:nvPr/>
        </p:nvSpPr>
        <p:spPr>
          <a:xfrm>
            <a:off x="9529018" y="4667250"/>
            <a:ext cx="26926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Improvement:</a:t>
            </a:r>
            <a:endParaRPr lang="en-US" sz="1500" dirty="0"/>
          </a:p>
        </p:txBody>
      </p:sp>
      <p:sp>
        <p:nvSpPr>
          <p:cNvPr id="49" name="Text 19"/>
          <p:cNvSpPr/>
          <p:nvPr/>
        </p:nvSpPr>
        <p:spPr>
          <a:xfrm>
            <a:off x="6248400" y="4972050"/>
            <a:ext cx="15612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+ Denial:</a:t>
            </a:r>
            <a:endParaRPr lang="en-US" sz="1350" dirty="0"/>
          </a:p>
        </p:txBody>
      </p:sp>
      <p:sp>
        <p:nvSpPr>
          <p:cNvPr id="50" name="Text 20"/>
          <p:cNvSpPr/>
          <p:nvPr/>
        </p:nvSpPr>
        <p:spPr>
          <a:xfrm>
            <a:off x="8005316" y="4972050"/>
            <a:ext cx="45211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t∈T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(Σ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k∈S_t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t,k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(1-y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k,t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Σ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i∈P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t,r(i)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γs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t,r(i)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)x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i,t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675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276350"/>
            <a:ext cx="2438400" cy="1181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375" y="1428750"/>
            <a:ext cx="2476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1181100"/>
            <a:ext cx="2438400" cy="1371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525" y="13335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276350"/>
            <a:ext cx="2438400" cy="118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5675" y="1428750"/>
            <a:ext cx="3238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600" y="1276350"/>
            <a:ext cx="243840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7925" y="14287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933700"/>
            <a:ext cx="3657600" cy="2133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1242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2933700"/>
            <a:ext cx="3657600" cy="2133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700" y="312420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3400" y="2933700"/>
            <a:ext cx="3657600" cy="2133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3900" y="3124200"/>
            <a:ext cx="257175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701040" y="18478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Dataset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701040" y="21145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18,405 players</a:t>
            </a:r>
            <a:endParaRPr lang="en-US" sz="1050" dirty="0"/>
          </a:p>
        </p:txBody>
      </p:sp>
      <p:sp>
        <p:nvSpPr>
          <p:cNvPr id="21" name="Text 3"/>
          <p:cNvSpPr/>
          <p:nvPr/>
        </p:nvSpPr>
        <p:spPr>
          <a:xfrm>
            <a:off x="3657600" y="175260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3657600" y="2019300"/>
            <a:ext cx="2133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club-blocking + remove current-squad players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6187440" y="18478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 Selection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6187440" y="21145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role group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8930640" y="18478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Preprocessed Market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8930640" y="21145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player pool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914400" y="3143250"/>
            <a:ext cx="1523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Club-blocking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685800" y="35433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buying players from Real Madrid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685800" y="40767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buying players from FC Barcelona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685800" y="4610100"/>
            <a:ext cx="3794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team-specific player selection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4857750" y="3143250"/>
            <a:ext cx="25913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Current-squad Removal</a:t>
            </a:r>
            <a:endParaRPr lang="en-US" sz="1500" dirty="0"/>
          </a:p>
        </p:txBody>
      </p:sp>
      <p:sp>
        <p:nvSpPr>
          <p:cNvPr id="32" name="Text 14"/>
          <p:cNvSpPr/>
          <p:nvPr/>
        </p:nvSpPr>
        <p:spPr>
          <a:xfrm>
            <a:off x="4572000" y="35433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players already in target squad</a:t>
            </a:r>
            <a:endParaRPr lang="en-US" sz="1350" dirty="0"/>
          </a:p>
        </p:txBody>
      </p:sp>
      <p:sp>
        <p:nvSpPr>
          <p:cNvPr id="33" name="Text 15"/>
          <p:cNvSpPr/>
          <p:nvPr/>
        </p:nvSpPr>
        <p:spPr>
          <a:xfrm>
            <a:off x="4572000" y="4076700"/>
            <a:ext cx="3794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Freezes existing player positions</a:t>
            </a:r>
            <a:endParaRPr lang="en-US" sz="1350" dirty="0"/>
          </a:p>
        </p:txBody>
      </p:sp>
      <p:sp>
        <p:nvSpPr>
          <p:cNvPr id="34" name="Text 16"/>
          <p:cNvSpPr/>
          <p:nvPr/>
        </p:nvSpPr>
        <p:spPr>
          <a:xfrm>
            <a:off x="4572000" y="43434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double-counting in optimization</a:t>
            </a:r>
            <a:endParaRPr lang="en-US" sz="1350" dirty="0"/>
          </a:p>
        </p:txBody>
      </p:sp>
      <p:sp>
        <p:nvSpPr>
          <p:cNvPr id="35" name="Text 17"/>
          <p:cNvSpPr/>
          <p:nvPr/>
        </p:nvSpPr>
        <p:spPr>
          <a:xfrm>
            <a:off x="8715375" y="3143250"/>
            <a:ext cx="17230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 Selection</a:t>
            </a:r>
            <a:endParaRPr lang="en-US" sz="1500" dirty="0"/>
          </a:p>
        </p:txBody>
      </p:sp>
      <p:sp>
        <p:nvSpPr>
          <p:cNvPr id="36" name="Text 18"/>
          <p:cNvSpPr/>
          <p:nvPr/>
        </p:nvSpPr>
        <p:spPr>
          <a:xfrm>
            <a:off x="8458200" y="35433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top-N candidates per role group</a:t>
            </a:r>
            <a:endParaRPr lang="en-US" sz="1350" dirty="0"/>
          </a:p>
        </p:txBody>
      </p:sp>
      <p:sp>
        <p:nvSpPr>
          <p:cNvPr id="37" name="Text 19"/>
          <p:cNvSpPr/>
          <p:nvPr/>
        </p:nvSpPr>
        <p:spPr>
          <a:xfrm>
            <a:off x="8458200" y="4076700"/>
            <a:ext cx="3794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 high scores and low costs</a:t>
            </a:r>
            <a:endParaRPr lang="en-US" sz="1350" dirty="0"/>
          </a:p>
        </p:txBody>
      </p:sp>
      <p:sp>
        <p:nvSpPr>
          <p:cNvPr id="38" name="Text 20"/>
          <p:cNvSpPr/>
          <p:nvPr/>
        </p:nvSpPr>
        <p:spPr>
          <a:xfrm>
            <a:off x="8458200" y="43434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squad needs with budget constraints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1339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55956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06239"/>
            <a:ext cx="3657600" cy="381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34839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996739"/>
            <a:ext cx="482947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568239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139739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711239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778131"/>
            <a:ext cx="3657600" cy="3810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2034839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1996739"/>
            <a:ext cx="1245543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3900" y="2568239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3900" y="3225931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3900" y="3530731"/>
            <a:ext cx="1714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3900" y="4064131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3900" y="4597531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3900" y="5130931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3400" y="1806239"/>
            <a:ext cx="3657600" cy="3810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3900" y="2034839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58225" y="1996739"/>
            <a:ext cx="2020342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43900" y="2587289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20100" y="2911139"/>
            <a:ext cx="3200400" cy="723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3900" y="3920789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20100" y="4244639"/>
            <a:ext cx="3200400" cy="7239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98756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Sets, Parameters &amp; Variables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914400" y="1996739"/>
            <a:ext cx="57953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914400" y="2530139"/>
            <a:ext cx="291405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(i)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Individual players in the market</a:t>
            </a: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∈ P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914400" y="3101639"/>
            <a:ext cx="1885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(t)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Competing clubs</a:t>
            </a: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 ∈ T = {Real, Barca}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895350" y="3673139"/>
            <a:ext cx="29527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groups (g)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Aggregated player positions</a:t>
            </a: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 ∈ G = {GK, CB, FB, MID, WING, ST}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4800600" y="1996739"/>
            <a:ext cx="14946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800" dirty="0"/>
          </a:p>
        </p:txBody>
      </p:sp>
      <p:sp>
        <p:nvSpPr>
          <p:cNvPr id="32" name="Text 6"/>
          <p:cNvSpPr/>
          <p:nvPr/>
        </p:nvSpPr>
        <p:spPr>
          <a:xfrm>
            <a:off x="4724400" y="2530139"/>
            <a:ext cx="281940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(Bt)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Financial resources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BReal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500 (M€), BBarca = 400 (M€)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4743450" y="3187831"/>
            <a:ext cx="308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(ci)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Acquisition cost for player i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4781550" y="3492631"/>
            <a:ext cx="264095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(si)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Performance benefit score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∈ [0, 10]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4762500" y="4026031"/>
            <a:ext cx="2971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multipliers (nt,r(i))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Strategic importance of role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4762500" y="4559431"/>
            <a:ext cx="2971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weights (dt,r(i))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Impact of denying role to opponent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4762500" y="5092831"/>
            <a:ext cx="282966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(ai)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Binary market availability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∈ {0,1} (p=0.85)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8658225" y="1996739"/>
            <a:ext cx="24244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Variables</a:t>
            </a:r>
            <a:endParaRPr lang="en-US" sz="1800" dirty="0"/>
          </a:p>
        </p:txBody>
      </p:sp>
      <p:sp>
        <p:nvSpPr>
          <p:cNvPr id="39" name="Text 13"/>
          <p:cNvSpPr/>
          <p:nvPr/>
        </p:nvSpPr>
        <p:spPr>
          <a:xfrm>
            <a:off x="8591550" y="2530139"/>
            <a:ext cx="14994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Variables</a:t>
            </a:r>
            <a:endParaRPr lang="en-US" sz="1500" dirty="0"/>
          </a:p>
        </p:txBody>
      </p:sp>
      <p:sp>
        <p:nvSpPr>
          <p:cNvPr id="40" name="Text 14"/>
          <p:cNvSpPr/>
          <p:nvPr/>
        </p:nvSpPr>
        <p:spPr>
          <a:xfrm>
            <a:off x="8534400" y="3025439"/>
            <a:ext cx="297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i,t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∈ {0, 1}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8237220" y="3292139"/>
            <a:ext cx="3566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if team t buys player i, 0 otherwise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8572500" y="3863639"/>
            <a:ext cx="14742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Variables</a:t>
            </a:r>
            <a:endParaRPr lang="en-US" sz="1500" dirty="0"/>
          </a:p>
        </p:txBody>
      </p:sp>
      <p:sp>
        <p:nvSpPr>
          <p:cNvPr id="43" name="Text 17"/>
          <p:cNvSpPr/>
          <p:nvPr/>
        </p:nvSpPr>
        <p:spPr>
          <a:xfrm>
            <a:off x="8534400" y="4358939"/>
            <a:ext cx="297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k,t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∈ {0, 1}</a:t>
            </a:r>
            <a:endParaRPr lang="en-US" sz="1200" dirty="0"/>
          </a:p>
        </p:txBody>
      </p:sp>
      <p:sp>
        <p:nvSpPr>
          <p:cNvPr id="44" name="Text 18"/>
          <p:cNvSpPr/>
          <p:nvPr/>
        </p:nvSpPr>
        <p:spPr>
          <a:xfrm>
            <a:off x="8237220" y="4625639"/>
            <a:ext cx="3566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if team t sells player k, 0 otherwise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11582400" cy="1295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049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400300"/>
            <a:ext cx="5715000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251460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400300"/>
            <a:ext cx="5715000" cy="1676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251460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229100"/>
            <a:ext cx="1158240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4343400"/>
            <a:ext cx="1428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4686300"/>
            <a:ext cx="370835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1750" y="4686300"/>
            <a:ext cx="370835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4401" y="4686300"/>
            <a:ext cx="3708499" cy="6096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800100" y="11049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Maximize Total Strategic Value across both teams 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-670560" y="1485900"/>
            <a:ext cx="13533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t∈T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 Σ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k∈St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t,k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(1−y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k,t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+ Σ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i∈P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(s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t,r(i)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γ s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t,r(i)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x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i,t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457200" y="18288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to: v</a:t>
            </a: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t,k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</a:t>
            </a: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</a:t>
            </a: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t,r(k)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733425" y="2514600"/>
            <a:ext cx="18425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Players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685800" y="28575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 players kept from current squad: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685800" y="31623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k∈St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t,k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(1−y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k,t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85800" y="35052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t,k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Value of player k for team t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685800" y="37338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k,t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1 if player k is sold, 0 otherwise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6600825" y="2514600"/>
            <a:ext cx="18968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Acquisitions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6553200" y="28575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 new players with denial factor γ: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553200" y="31623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i∈P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t,r(i)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γ s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t,r(i)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x</a:t>
            </a: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i,t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6553200" y="35052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i,t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1 if player i is bought, 0 otherwise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6553200" y="37338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Performance score of player i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638175" y="4343400"/>
            <a:ext cx="17911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Factor (γ)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495300" y="4762500"/>
            <a:ext cx="3555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= 0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495300" y="5029200"/>
            <a:ext cx="3555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 scenario</a:t>
            </a:r>
            <a:endParaRPr lang="en-US" sz="1050" dirty="0"/>
          </a:p>
        </p:txBody>
      </p:sp>
      <p:sp>
        <p:nvSpPr>
          <p:cNvPr id="32" name="Text 17"/>
          <p:cNvSpPr/>
          <p:nvPr/>
        </p:nvSpPr>
        <p:spPr>
          <a:xfrm>
            <a:off x="4317950" y="4762500"/>
            <a:ext cx="3555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&gt; 0</a:t>
            </a:r>
            <a:endParaRPr lang="en-US" sz="1350" dirty="0"/>
          </a:p>
        </p:txBody>
      </p:sp>
      <p:sp>
        <p:nvSpPr>
          <p:cNvPr id="33" name="Text 18"/>
          <p:cNvSpPr/>
          <p:nvPr/>
        </p:nvSpPr>
        <p:spPr>
          <a:xfrm>
            <a:off x="4317950" y="5029200"/>
            <a:ext cx="3555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scenario</a:t>
            </a:r>
            <a:endParaRPr lang="en-US" sz="1050" dirty="0"/>
          </a:p>
        </p:txBody>
      </p:sp>
      <p:sp>
        <p:nvSpPr>
          <p:cNvPr id="34" name="Text 19"/>
          <p:cNvSpPr/>
          <p:nvPr/>
        </p:nvSpPr>
        <p:spPr>
          <a:xfrm>
            <a:off x="8140601" y="4762500"/>
            <a:ext cx="35560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= 0.5</a:t>
            </a:r>
            <a:endParaRPr lang="en-US" sz="1350" dirty="0"/>
          </a:p>
        </p:txBody>
      </p:sp>
      <p:sp>
        <p:nvSpPr>
          <p:cNvPr id="35" name="Text 20"/>
          <p:cNvSpPr/>
          <p:nvPr/>
        </p:nvSpPr>
        <p:spPr>
          <a:xfrm>
            <a:off x="8140601" y="5029200"/>
            <a:ext cx="35560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approach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24000"/>
            <a:ext cx="5638800" cy="106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69545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524000"/>
            <a:ext cx="5638800" cy="1066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695450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743200"/>
            <a:ext cx="5638800" cy="1066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291465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743200"/>
            <a:ext cx="5638800" cy="1066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291465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962400"/>
            <a:ext cx="5638800" cy="1066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1338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3962400"/>
            <a:ext cx="56388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0" y="4133850"/>
            <a:ext cx="1905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2700" dirty="0"/>
          </a:p>
        </p:txBody>
      </p:sp>
      <p:sp>
        <p:nvSpPr>
          <p:cNvPr id="18" name="Text 2"/>
          <p:cNvSpPr/>
          <p:nvPr/>
        </p:nvSpPr>
        <p:spPr>
          <a:xfrm>
            <a:off x="723900" y="1638300"/>
            <a:ext cx="26930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with sell revenue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723900" y="19431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∑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B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∑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SellValue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k,t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k,t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723900" y="22479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must not exceed budget plus revenue.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6553200" y="1638300"/>
            <a:ext cx="11946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Exclusivity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6515100" y="19431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∑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1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6515100" y="22479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player can be bought by at most one team.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762000" y="2857500"/>
            <a:ext cx="13596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cap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723900" y="31623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∑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K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(K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=4)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723900" y="34671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 has max K=4 incoming transfers.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553200" y="2857500"/>
            <a:ext cx="812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6515100" y="31623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∑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∑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k,t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Forced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6515100" y="34671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transfers must balance outgoing + forced departures.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723900" y="4076700"/>
            <a:ext cx="15116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Untouchables</a:t>
            </a:r>
            <a:endParaRPr lang="en-US" sz="1500" dirty="0"/>
          </a:p>
        </p:txBody>
      </p:sp>
      <p:sp>
        <p:nvSpPr>
          <p:cNvPr id="31" name="Text 15"/>
          <p:cNvSpPr/>
          <p:nvPr/>
        </p:nvSpPr>
        <p:spPr>
          <a:xfrm>
            <a:off x="723900" y="43815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k,t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=0 for k∈U</a:t>
            </a:r>
            <a:r>
              <a:rPr lang="en-US" sz="101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350" dirty="0"/>
          </a:p>
        </p:txBody>
      </p:sp>
      <p:sp>
        <p:nvSpPr>
          <p:cNvPr id="32" name="Text 16"/>
          <p:cNvSpPr/>
          <p:nvPr/>
        </p:nvSpPr>
        <p:spPr>
          <a:xfrm>
            <a:off x="723900" y="46863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"Untouchable" players cannot be sold.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6553200" y="4076700"/>
            <a:ext cx="26294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Role-group replacement</a:t>
            </a:r>
            <a:endParaRPr lang="en-US" sz="1500" dirty="0"/>
          </a:p>
        </p:txBody>
      </p:sp>
      <p:sp>
        <p:nvSpPr>
          <p:cNvPr id="34" name="Text 18"/>
          <p:cNvSpPr/>
          <p:nvPr/>
        </p:nvSpPr>
        <p:spPr>
          <a:xfrm>
            <a:off x="6515100" y="43815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buys_in_group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≥ </a:t>
            </a:r>
            <a:r>
              <a:rPr lang="en-US" sz="135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sells_in_group</a:t>
            </a:r>
            <a:endParaRPr lang="en-US" sz="1350" dirty="0"/>
          </a:p>
        </p:txBody>
      </p:sp>
      <p:sp>
        <p:nvSpPr>
          <p:cNvPr id="35" name="Text 19"/>
          <p:cNvSpPr/>
          <p:nvPr/>
        </p:nvSpPr>
        <p:spPr>
          <a:xfrm>
            <a:off x="6515100" y="46863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players are sold, at least equal number must be bought.</a:t>
            </a:r>
            <a:endParaRPr lang="en-US" sz="1200" dirty="0"/>
          </a:p>
        </p:txBody>
      </p:sp>
      <p:sp>
        <p:nvSpPr>
          <p:cNvPr id="36" name="Text 20"/>
          <p:cNvSpPr/>
          <p:nvPr/>
        </p:nvSpPr>
        <p:spPr>
          <a:xfrm>
            <a:off x="381000" y="6311468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These constraints ensure the model remains realistic and feasible. The budget constraint incorporates sell revenue, while the linking constraint ensures transfer windows balance. Role-group constraints maintain squad structure. Club-blocking prevents buying current Real/Barca players.</a:t>
            </a:r>
            <a:endParaRPr lang="en-US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544B594-9410-9768-3ADE-A31CF8B5074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2027" y="3908720"/>
            <a:ext cx="10575565" cy="21384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3657600" cy="2933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3657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3335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628900"/>
            <a:ext cx="327660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7813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733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1181100"/>
            <a:ext cx="3657600" cy="2933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1181100"/>
            <a:ext cx="3657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9600" y="13335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2628900"/>
            <a:ext cx="32766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7813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3733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1181100"/>
            <a:ext cx="3657600" cy="2933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1181100"/>
            <a:ext cx="3657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133350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628900"/>
            <a:ext cx="3276600" cy="952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27813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4419600"/>
            <a:ext cx="200025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Design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876300" y="1333500"/>
            <a:ext cx="28967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Seed Sensitivity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571500" y="1981200"/>
            <a:ext cx="327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model behavior across different levels of competitive hostility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914400" y="2743200"/>
            <a:ext cx="9960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Parameters: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800100" y="3009900"/>
            <a:ext cx="2933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seed=12345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800100" y="323850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γ={0, 0.25, 0.5, 0.75}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00100" y="3695700"/>
            <a:ext cx="29173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market availability constant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4762500" y="1333500"/>
            <a:ext cx="157001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800" dirty="0"/>
          </a:p>
        </p:txBody>
      </p:sp>
      <p:sp>
        <p:nvSpPr>
          <p:cNvPr id="31" name="Text 8"/>
          <p:cNvSpPr/>
          <p:nvPr/>
        </p:nvSpPr>
        <p:spPr>
          <a:xfrm>
            <a:off x="4457700" y="1981200"/>
            <a:ext cx="327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Assesses stability of results across various market draws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4800600" y="2743200"/>
            <a:ext cx="9960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Parameters: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4686300" y="300990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replications (different seeds)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4686300" y="3238500"/>
            <a:ext cx="2933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γ=0 vs γ=0.5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4686300" y="3695700"/>
            <a:ext cx="32412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"Peace" and "War" scenarios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8705850" y="1333500"/>
            <a:ext cx="17589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 vs War</a:t>
            </a:r>
            <a:endParaRPr lang="en-US" sz="1800" dirty="0"/>
          </a:p>
        </p:txBody>
      </p:sp>
      <p:sp>
        <p:nvSpPr>
          <p:cNvPr id="37" name="Text 14"/>
          <p:cNvSpPr/>
          <p:nvPr/>
        </p:nvSpPr>
        <p:spPr>
          <a:xfrm>
            <a:off x="8343900" y="1981200"/>
            <a:ext cx="327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differences are attributable to γ parameter only</a:t>
            </a:r>
            <a:endParaRPr lang="en-US" sz="1500" dirty="0"/>
          </a:p>
        </p:txBody>
      </p:sp>
      <p:sp>
        <p:nvSpPr>
          <p:cNvPr id="38" name="Text 15"/>
          <p:cNvSpPr/>
          <p:nvPr/>
        </p:nvSpPr>
        <p:spPr>
          <a:xfrm>
            <a:off x="8686800" y="2743200"/>
            <a:ext cx="6200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8572500" y="300990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availability draw within run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8572500" y="323850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γ=0 and γ&gt;0</a:t>
            </a:r>
            <a:endParaRPr lang="en-US" sz="1200" dirty="0"/>
          </a:p>
        </p:txBody>
      </p:sp>
      <p:sp>
        <p:nvSpPr>
          <p:cNvPr id="42" name="Text 19"/>
          <p:cNvSpPr/>
          <p:nvPr/>
        </p:nvSpPr>
        <p:spPr>
          <a:xfrm>
            <a:off x="695325" y="4438650"/>
            <a:ext cx="263372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Approach:</a:t>
            </a:r>
            <a:endParaRPr lang="en-US" sz="1500" dirty="0"/>
          </a:p>
        </p:txBody>
      </p:sp>
      <p:sp>
        <p:nvSpPr>
          <p:cNvPr id="43" name="Text 20"/>
          <p:cNvSpPr/>
          <p:nvPr/>
        </p:nvSpPr>
        <p:spPr>
          <a:xfrm>
            <a:off x="723900" y="4724400"/>
            <a:ext cx="13304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evaluation of model performance across different scenarios to validate conclusions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6667500" cy="3619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4901" y="11049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01" y="251460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838700"/>
            <a:ext cx="114300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914900"/>
            <a:ext cx="171450" cy="3048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Strategic Improvement</a:t>
            </a:r>
            <a:endParaRPr lang="en-US" sz="2700" dirty="0"/>
          </a:p>
        </p:txBody>
      </p:sp>
      <p:sp>
        <p:nvSpPr>
          <p:cNvPr id="10" name="Text 1"/>
          <p:cNvSpPr/>
          <p:nvPr/>
        </p:nvSpPr>
        <p:spPr>
          <a:xfrm>
            <a:off x="8597801" y="1123950"/>
            <a:ext cx="12321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1" name="Text 2"/>
          <p:cNvSpPr/>
          <p:nvPr/>
        </p:nvSpPr>
        <p:spPr>
          <a:xfrm>
            <a:off x="8597801" y="1485900"/>
            <a:ext cx="3213199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strategic improvement increases with γ because denial is rewarded in the objective function.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8626376" y="2533650"/>
            <a:ext cx="7368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500" dirty="0"/>
          </a:p>
        </p:txBody>
      </p:sp>
      <p:sp>
        <p:nvSpPr>
          <p:cNvPr id="13" name="Text 4"/>
          <p:cNvSpPr/>
          <p:nvPr/>
        </p:nvSpPr>
        <p:spPr>
          <a:xfrm>
            <a:off x="8407301" y="2895600"/>
            <a:ext cx="40844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increase in performance</a:t>
            </a:r>
            <a:endParaRPr lang="en-US" sz="1500" dirty="0"/>
          </a:p>
        </p:txBody>
      </p:sp>
      <p:sp>
        <p:nvSpPr>
          <p:cNvPr id="14" name="Text 5"/>
          <p:cNvSpPr/>
          <p:nvPr/>
        </p:nvSpPr>
        <p:spPr>
          <a:xfrm>
            <a:off x="8407301" y="3162300"/>
            <a:ext cx="40844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 grows with hostility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742950" y="4933950"/>
            <a:ext cx="11394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1768673" y="4933950"/>
            <a:ext cx="84828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competitive hostility increases (γ), combined team value improves monotonically.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28700"/>
            <a:ext cx="571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4901" y="1028700"/>
            <a:ext cx="3556099" cy="434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301" y="16002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1" y="28575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7301" y="4114800"/>
            <a:ext cx="142875" cy="2667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Strategic Values</a:t>
            </a:r>
            <a:endParaRPr lang="en-US" sz="2700" dirty="0"/>
          </a:p>
        </p:txBody>
      </p:sp>
      <p:sp>
        <p:nvSpPr>
          <p:cNvPr id="10" name="Text 1"/>
          <p:cNvSpPr/>
          <p:nvPr/>
        </p:nvSpPr>
        <p:spPr>
          <a:xfrm>
            <a:off x="8407301" y="1181100"/>
            <a:ext cx="39015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8674001" y="1600200"/>
            <a:ext cx="24520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 Trends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8674001" y="1905000"/>
            <a:ext cx="2984599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teams' strategic values increase with γ, showing competitive hostility enhances team improvement.</a:t>
            </a:r>
            <a:endParaRPr lang="en-US" sz="1350" dirty="0"/>
          </a:p>
        </p:txBody>
      </p:sp>
      <p:sp>
        <p:nvSpPr>
          <p:cNvPr id="13" name="Text 4"/>
          <p:cNvSpPr/>
          <p:nvPr/>
        </p:nvSpPr>
        <p:spPr>
          <a:xfrm>
            <a:off x="8674001" y="2857500"/>
            <a:ext cx="16007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Shifts</a:t>
            </a:r>
            <a:endParaRPr lang="en-US" sz="1500" dirty="0"/>
          </a:p>
        </p:txBody>
      </p:sp>
      <p:sp>
        <p:nvSpPr>
          <p:cNvPr id="14" name="Text 5"/>
          <p:cNvSpPr/>
          <p:nvPr/>
        </p:nvSpPr>
        <p:spPr>
          <a:xfrm>
            <a:off x="8674001" y="3162300"/>
            <a:ext cx="2984599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γ increases, transfer choices shift toward denial-relevant roles that impact both teams' value.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8626376" y="4114800"/>
            <a:ext cx="1155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Insight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8674001" y="4419600"/>
            <a:ext cx="2984599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reveals how competitive intensity changes optimal transfer strategies.</a:t>
            </a:r>
            <a:endParaRPr lang="en-US" sz="1350" dirty="0"/>
          </a:p>
        </p:txBody>
      </p:sp>
      <p:sp>
        <p:nvSpPr>
          <p:cNvPr id="17" name="Text 8"/>
          <p:cNvSpPr/>
          <p:nvPr/>
        </p:nvSpPr>
        <p:spPr>
          <a:xfrm>
            <a:off x="-762000" y="5524500"/>
            <a:ext cx="13716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631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Madrid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800" dirty="0">
                <a:solidFill>
                  <a:srgbClr val="99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Barcelona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strategic values rise with γ as transfers shift toward denial-relevant roles.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2359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772359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39159"/>
            <a:ext cx="2286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867859"/>
            <a:ext cx="4328071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820359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271" y="1839159"/>
            <a:ext cx="5715000" cy="33337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81000" y="315159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Contributions</a:t>
            </a:r>
            <a:endParaRPr lang="en-US" sz="2700" dirty="0"/>
          </a:p>
        </p:txBody>
      </p:sp>
      <p:sp>
        <p:nvSpPr>
          <p:cNvPr id="10" name="Text 1"/>
          <p:cNvSpPr/>
          <p:nvPr/>
        </p:nvSpPr>
        <p:spPr>
          <a:xfrm>
            <a:off x="723900" y="1858209"/>
            <a:ext cx="15496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Growth</a:t>
            </a:r>
            <a:endParaRPr lang="en-US" sz="1500" dirty="0"/>
          </a:p>
        </p:txBody>
      </p:sp>
      <p:sp>
        <p:nvSpPr>
          <p:cNvPr id="11" name="Text 2"/>
          <p:cNvSpPr/>
          <p:nvPr/>
        </p:nvSpPr>
        <p:spPr>
          <a:xfrm>
            <a:off x="381000" y="2220159"/>
            <a:ext cx="432807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contribution for both teams grows approximately monotonically with increasing gamma parameter.</a:t>
            </a:r>
            <a:endParaRPr lang="en-US" sz="1350" dirty="0"/>
          </a:p>
        </p:txBody>
      </p:sp>
      <p:sp>
        <p:nvSpPr>
          <p:cNvPr id="12" name="Text 3"/>
          <p:cNvSpPr/>
          <p:nvPr/>
        </p:nvSpPr>
        <p:spPr>
          <a:xfrm>
            <a:off x="495300" y="2982159"/>
            <a:ext cx="409947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γ increases, teams increasingly value transfers that deny opponents critical players.</a:t>
            </a:r>
            <a:endParaRPr lang="en-US" sz="1350" dirty="0"/>
          </a:p>
        </p:txBody>
      </p:sp>
      <p:sp>
        <p:nvSpPr>
          <p:cNvPr id="13" name="Text 4"/>
          <p:cNvSpPr/>
          <p:nvPr/>
        </p:nvSpPr>
        <p:spPr>
          <a:xfrm>
            <a:off x="666750" y="3839409"/>
            <a:ext cx="10633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500" dirty="0"/>
          </a:p>
        </p:txBody>
      </p:sp>
      <p:sp>
        <p:nvSpPr>
          <p:cNvPr id="14" name="Text 5"/>
          <p:cNvSpPr/>
          <p:nvPr/>
        </p:nvSpPr>
        <p:spPr>
          <a:xfrm>
            <a:off x="723900" y="4201359"/>
            <a:ext cx="398517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contribution grows approximately monotonically with γ.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3021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46821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989821"/>
            <a:ext cx="2286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713721"/>
            <a:ext cx="24765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2713721"/>
            <a:ext cx="247650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856721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1989821"/>
            <a:ext cx="5715000" cy="2857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4961621"/>
            <a:ext cx="5448300" cy="10287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81000" y="389621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Analysis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723900" y="2008871"/>
            <a:ext cx="18036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723900" y="2370821"/>
            <a:ext cx="6126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replications with different random seeds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838200" y="2828021"/>
            <a:ext cx="2697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 (γ=0)</a:t>
            </a:r>
            <a:endParaRPr lang="en-US" sz="1350" dirty="0"/>
          </a:p>
        </p:txBody>
      </p:sp>
      <p:sp>
        <p:nvSpPr>
          <p:cNvPr id="15" name="Text 4"/>
          <p:cNvSpPr/>
          <p:nvPr/>
        </p:nvSpPr>
        <p:spPr>
          <a:xfrm>
            <a:off x="838200" y="3094721"/>
            <a:ext cx="2247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standard deviations indicate stability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3467100" y="2828021"/>
            <a:ext cx="2697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(γ=0.5)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3467100" y="3094721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denial contributions</a:t>
            </a:r>
            <a:endParaRPr lang="en-US" sz="1200" dirty="0"/>
          </a:p>
        </p:txBody>
      </p:sp>
      <p:sp>
        <p:nvSpPr>
          <p:cNvPr id="18" name="Text 7"/>
          <p:cNvSpPr/>
          <p:nvPr/>
        </p:nvSpPr>
        <p:spPr>
          <a:xfrm>
            <a:off x="723900" y="3875771"/>
            <a:ext cx="14353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9" name="Text 8"/>
          <p:cNvSpPr/>
          <p:nvPr/>
        </p:nvSpPr>
        <p:spPr>
          <a:xfrm>
            <a:off x="533400" y="4237721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variability across random market draws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533400" y="4504421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contribution stable: Real 15.98, Barca 15.86</a:t>
            </a:r>
            <a:endParaRPr lang="en-US" sz="1500" dirty="0"/>
          </a:p>
        </p:txBody>
      </p:sp>
      <p:sp>
        <p:nvSpPr>
          <p:cNvPr id="21" name="Text 10"/>
          <p:cNvSpPr/>
          <p:nvPr/>
        </p:nvSpPr>
        <p:spPr>
          <a:xfrm>
            <a:off x="533400" y="4771121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robust across different market conditions</a:t>
            </a:r>
            <a:endParaRPr lang="en-US" sz="15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E5578F-67A7-C778-440E-BC42F4252B06}"/>
              </a:ext>
            </a:extLst>
          </p:cNvPr>
          <p:cNvSpPr txBox="1"/>
          <p:nvPr/>
        </p:nvSpPr>
        <p:spPr>
          <a:xfrm>
            <a:off x="6672820" y="4947210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Low standard deviation across seeds indicates stability (robustness) under random market availability.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16" y="2286000"/>
            <a:ext cx="2286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485900"/>
            <a:ext cx="5410200" cy="1600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16" y="29146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16" y="32575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16" y="36004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16" y="39433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066800"/>
            <a:ext cx="5562600" cy="419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485900"/>
            <a:ext cx="5410200" cy="2819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286000"/>
            <a:ext cx="2495550" cy="990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0" y="24574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3050" y="2286000"/>
            <a:ext cx="2495550" cy="990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7350" y="2457450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3390900"/>
            <a:ext cx="249555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500" y="35623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3050" y="3390900"/>
            <a:ext cx="2495550" cy="762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77350" y="3562350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7026" y="2781300"/>
            <a:ext cx="5410200" cy="7620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Validation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739716" y="2286000"/>
            <a:ext cx="42530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815916" y="2857500"/>
            <a:ext cx="1969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Exclusivity satisfied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815916" y="3200400"/>
            <a:ext cx="4104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feasible (including sell revenue)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815916" y="3543300"/>
            <a:ext cx="22622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Untouchables not sold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815916" y="3886200"/>
            <a:ext cx="28210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departures enforced</a:t>
            </a:r>
            <a:endParaRPr lang="en-US" sz="1500" dirty="0"/>
          </a:p>
        </p:txBody>
      </p:sp>
      <p:sp>
        <p:nvSpPr>
          <p:cNvPr id="31" name="Text 8"/>
          <p:cNvSpPr/>
          <p:nvPr/>
        </p:nvSpPr>
        <p:spPr>
          <a:xfrm>
            <a:off x="6896100" y="2400300"/>
            <a:ext cx="10635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6667500" y="2705100"/>
            <a:ext cx="2266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framework for transfer decisions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9525000" y="2400300"/>
            <a:ext cx="19556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Constraint-respecting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9277350" y="2705100"/>
            <a:ext cx="272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satisfies all rules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6896100" y="3505200"/>
            <a:ext cx="14408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</a:t>
            </a:r>
            <a:endParaRPr lang="en-US" sz="1350" dirty="0"/>
          </a:p>
        </p:txBody>
      </p:sp>
      <p:sp>
        <p:nvSpPr>
          <p:cNvPr id="36" name="Text 13"/>
          <p:cNvSpPr/>
          <p:nvPr/>
        </p:nvSpPr>
        <p:spPr>
          <a:xfrm>
            <a:off x="6667500" y="3810000"/>
            <a:ext cx="272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Considers all possible transfers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9486900" y="3505200"/>
            <a:ext cx="8120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9277350" y="3810000"/>
            <a:ext cx="272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Incorporates competitive hostility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1371</Words>
  <Application>Microsoft Office PowerPoint</Application>
  <PresentationFormat>Widescreen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CHRYSOMALLIS IOANNIS</cp:lastModifiedBy>
  <cp:revision>3</cp:revision>
  <dcterms:created xsi:type="dcterms:W3CDTF">2026-01-12T19:33:00Z</dcterms:created>
  <dcterms:modified xsi:type="dcterms:W3CDTF">2026-01-12T20:52:50Z</dcterms:modified>
</cp:coreProperties>
</file>